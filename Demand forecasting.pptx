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351" r:id="rId3"/>
    <p:sldId id="353" r:id="rId4"/>
    <p:sldId id="352" r:id="rId5"/>
    <p:sldId id="289" r:id="rId6"/>
    <p:sldId id="350" r:id="rId7"/>
    <p:sldId id="288" r:id="rId8"/>
    <p:sldId id="354" r:id="rId9"/>
    <p:sldId id="316" r:id="rId10"/>
    <p:sldId id="280" r:id="rId11"/>
    <p:sldId id="328" r:id="rId12"/>
    <p:sldId id="327" r:id="rId13"/>
    <p:sldId id="338" r:id="rId14"/>
    <p:sldId id="329" r:id="rId15"/>
    <p:sldId id="330" r:id="rId16"/>
    <p:sldId id="331" r:id="rId17"/>
    <p:sldId id="347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287" r:id="rId27"/>
    <p:sldId id="259" r:id="rId2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>
      <p:cViewPr varScale="1">
        <p:scale>
          <a:sx n="99" d="100"/>
          <a:sy n="99" d="100"/>
        </p:scale>
        <p:origin x="-480" y="-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281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3E796-D1B2-4A06-B077-8105229DC72A}" type="datetimeFigureOut">
              <a:rPr lang="en-US" smtClean="0"/>
              <a:t>6/28/2018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F74D4-C230-4DB5-83A5-B13586893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53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5A582-13C2-4352-8F8F-18A92EDEBC03}" type="datetimeFigureOut">
              <a:rPr lang="en-US" smtClean="0"/>
              <a:t>6/28/2018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162C2-4A66-4997-9974-1E8D4A5DC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7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1162C2-4A66-4997-9974-1E8D4A5DCD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21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:\Marketing\2 Marketing Stationery\Images\Images 2017\Aravind\Commercial-Buildings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-1" y="0"/>
            <a:ext cx="9143999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:\Aravind\stock-photo-corporate-building-concept-glassy-modern-architecture-concept-realistic-d-render-illustration-278206394.jpg"/>
          <p:cNvPicPr preferRelativeResize="0">
            <a:picLocks noChangeArrowheads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6350" y="0"/>
            <a:ext cx="764052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501ABECC-6667-49F2-80BB-10F9A011D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807233" y="193046"/>
            <a:ext cx="1220811" cy="45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534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4F2E9010-E402-484E-857D-B3A598F8EFCC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48177454-1B22-4023-A6AC-30204165849A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="" xmlns:a16="http://schemas.microsoft.com/office/drawing/2014/main" id="{50B6C2AB-5FAE-4C27-95DA-4CF28EB8D1E1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="" xmlns:a16="http://schemas.microsoft.com/office/drawing/2014/main" id="{D15CB5F2-CF40-480D-8EB2-20551D2504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685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D957094A-2B86-4B1F-ADE4-156A8BB83045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A02018CD-B1D3-405B-B809-CC02BDBF8214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="" xmlns:a16="http://schemas.microsoft.com/office/drawing/2014/main" id="{652AD8A5-34D2-45AD-A694-ED0535641CF9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82A7808B-1367-4FF8-A821-313E608789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03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F31A0581-EFB3-4D36-B404-AF8D512D69C6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F117BAFA-2BAF-44E1-A3B8-3DDA1CAEB059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="" xmlns:a16="http://schemas.microsoft.com/office/drawing/2014/main" id="{6D64F18B-4C40-4AFC-860E-F989A097927B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223D73F3-A700-4F20-AE8E-6AE0EA731E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03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33F973B7-1E69-4038-8FC4-4581535278D2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AD500078-0BE9-4EC0-8342-356A9A10B9FD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="" xmlns:a16="http://schemas.microsoft.com/office/drawing/2014/main" id="{F393BE4B-9815-4C10-8FE5-AA2483745CDD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344EF00D-B332-4D82-8ECD-15D51316AD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41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431C5D06-9E0C-459C-A98C-46DD053BB33F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60A57FDB-5791-4E10-86FA-7D14AA7B879B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="" xmlns:a16="http://schemas.microsoft.com/office/drawing/2014/main" id="{BBF67C82-29AC-4339-9439-2569B7A58483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D9914D1E-1A21-48EC-AF72-B4B3B3AAE0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41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EF5EF700-75DD-47C4-B278-E7054D963641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F19F7902-D999-4512-974E-7952BB3E3678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="" xmlns:a16="http://schemas.microsoft.com/office/drawing/2014/main" id="{1A6351E1-5A1A-4E72-B0BB-DA805A7F63A9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="" xmlns:a16="http://schemas.microsoft.com/office/drawing/2014/main" id="{67114985-63D9-49C3-89B3-187DA715E9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64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78F7367C-1515-47EE-AA72-57C716B9E949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C6C45CC6-BEAE-451E-AB8F-3661D1A097E1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="" xmlns:a16="http://schemas.microsoft.com/office/drawing/2014/main" id="{3B77860C-C1E8-4BC2-93CE-5BB5D0205E45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="" xmlns:a16="http://schemas.microsoft.com/office/drawing/2014/main" id="{55D2F32D-EFAB-49EC-8B64-3984103B13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86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2819399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12" name="Flowchart: Data 11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Data 13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6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7FC0D96-1A42-4507-BE32-BA3EB4627BF2}"/>
              </a:ext>
            </a:extLst>
          </p:cNvPr>
          <p:cNvSpPr/>
          <p:nvPr/>
        </p:nvSpPr>
        <p:spPr>
          <a:xfrm>
            <a:off x="0" y="4226378"/>
            <a:ext cx="9139518" cy="684000"/>
          </a:xfrm>
          <a:prstGeom prst="rect">
            <a:avLst/>
          </a:prstGeom>
          <a:solidFill>
            <a:schemeClr val="bg1">
              <a:alpha val="79000"/>
            </a:schemeClr>
          </a:solidFill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Bef>
                <a:spcPts val="300"/>
              </a:spcBef>
              <a:buClr>
                <a:srgbClr val="666666"/>
              </a:buClr>
            </a:pPr>
            <a:endParaRPr lang="en-US" sz="1100" dirty="0"/>
          </a:p>
          <a:p>
            <a:pPr lvl="1">
              <a:lnSpc>
                <a:spcPct val="150000"/>
              </a:lnSpc>
              <a:spcBef>
                <a:spcPts val="300"/>
              </a:spcBef>
              <a:buClr>
                <a:srgbClr val="666666"/>
              </a:buClr>
            </a:pPr>
            <a:endParaRPr lang="en-US" sz="1100" dirty="0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904F803A-CB6F-41EA-B34E-C06E13678075}"/>
              </a:ext>
            </a:extLst>
          </p:cNvPr>
          <p:cNvGrpSpPr/>
          <p:nvPr userDrawn="1"/>
        </p:nvGrpSpPr>
        <p:grpSpPr>
          <a:xfrm>
            <a:off x="668526" y="4323670"/>
            <a:ext cx="7883148" cy="458628"/>
            <a:chOff x="668526" y="4323670"/>
            <a:chExt cx="7883148" cy="458628"/>
          </a:xfrm>
        </p:grpSpPr>
        <p:pic>
          <p:nvPicPr>
            <p:cNvPr id="5" name="Picture 3" descr="C:\Users\avijayan\Desktop\app consulting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526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 descr="C:\Users\avijayan\Desktop\app staffing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9245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C:\Users\avijayan\Desktop\app clod.png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0683" y="4324370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C:\Users\avijayan\Desktop\Applexus logos\app Managed Services.png"/>
            <p:cNvPicPr>
              <a:picLocks noChangeAspect="1" noChangeArrowheads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91400" y="4323670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C:\Users\avijayan\Desktop\Applexus logos\App Products and Innovation.png"/>
            <p:cNvPicPr>
              <a:picLocks noChangeAspect="1" noChangeArrowheads="1"/>
            </p:cNvPicPr>
            <p:nvPr userDrawn="1"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9602" y="4323670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4D4A4485-E609-416C-9E63-967C09DB78A0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3" name="Rectangle 22">
              <a:extLst>
                <a:ext uri="{FF2B5EF4-FFF2-40B4-BE49-F238E27FC236}">
                  <a16:creationId xmlns="" xmlns:a16="http://schemas.microsoft.com/office/drawing/2014/main" id="{E39CABDE-24BD-46F8-9590-0F09A084932A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="" xmlns:a16="http://schemas.microsoft.com/office/drawing/2014/main" id="{983E6170-D6DE-418B-8933-BA5D6BCE4BA9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5" name="Picture 2">
            <a:extLst>
              <a:ext uri="{FF2B5EF4-FFF2-40B4-BE49-F238E27FC236}">
                <a16:creationId xmlns="" xmlns:a16="http://schemas.microsoft.com/office/drawing/2014/main" id="{2180C30B-558C-4875-8AAD-3D715009FF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93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Data 8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1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2B5ACE70-E501-47F4-81C1-8BC5C2CC2C9D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551646FD-70DC-4333-8D17-B12966C265AE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="" xmlns:a16="http://schemas.microsoft.com/office/drawing/2014/main" id="{ED0FA7C8-1D60-4B1E-8AD4-169FB179D7EC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="" xmlns:a16="http://schemas.microsoft.com/office/drawing/2014/main" id="{EF10AC7F-27CC-41FE-9A08-FE79E150C7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332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00151"/>
            <a:ext cx="8229600" cy="2743199"/>
          </a:xfrm>
          <a:prstGeom prst="rect">
            <a:avLst/>
          </a:prstGeom>
        </p:spPr>
        <p:txBody>
          <a:bodyPr/>
          <a:lstStyle>
            <a:lvl1pPr>
              <a:defRPr sz="1600" baseline="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Data 8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1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/>
          <p:cNvGrpSpPr/>
          <p:nvPr userDrawn="1"/>
        </p:nvGrpSpPr>
        <p:grpSpPr>
          <a:xfrm>
            <a:off x="0" y="4226378"/>
            <a:ext cx="9139518" cy="684000"/>
            <a:chOff x="0" y="4226378"/>
            <a:chExt cx="9139518" cy="684000"/>
          </a:xfrm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67FC0D96-1A42-4507-BE32-BA3EB4627BF2}"/>
                </a:ext>
              </a:extLst>
            </p:cNvPr>
            <p:cNvSpPr/>
            <p:nvPr/>
          </p:nvSpPr>
          <p:spPr>
            <a:xfrm>
              <a:off x="0" y="4226378"/>
              <a:ext cx="9139518" cy="68400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</p:spPr>
          <p:txBody>
            <a:bodyPr wrap="square">
              <a:spAutoFit/>
            </a:bodyPr>
            <a:lstStyle/>
            <a:p>
              <a:pPr lvl="1">
                <a:lnSpc>
                  <a:spcPct val="150000"/>
                </a:lnSpc>
                <a:spcBef>
                  <a:spcPts val="300"/>
                </a:spcBef>
                <a:buClr>
                  <a:srgbClr val="666666"/>
                </a:buClr>
              </a:pPr>
              <a:endParaRPr lang="en-US" sz="1100" dirty="0"/>
            </a:p>
            <a:p>
              <a:pPr lvl="1">
                <a:lnSpc>
                  <a:spcPct val="150000"/>
                </a:lnSpc>
                <a:spcBef>
                  <a:spcPts val="300"/>
                </a:spcBef>
                <a:buClr>
                  <a:srgbClr val="666666"/>
                </a:buClr>
              </a:pPr>
              <a:endParaRPr lang="en-US" sz="1100" dirty="0"/>
            </a:p>
          </p:txBody>
        </p:sp>
        <p:pic>
          <p:nvPicPr>
            <p:cNvPr id="18" name="Picture 3" descr="C:\Users\avijayan\Desktop\app consulting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526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4" descr="C:\Users\avijayan\Desktop\app staffing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3726" y="4324418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5" descr="C:\Users\avijayan\Desktop\app labs.png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8926" y="4331555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6" descr="C:\Users\avijayan\Desktop\app clod.png"/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4126" y="4332321"/>
              <a:ext cx="1160274" cy="457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07718460-BE91-4812-A0F2-F234BFAF86A0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4" name="Rectangle 23">
              <a:extLst>
                <a:ext uri="{FF2B5EF4-FFF2-40B4-BE49-F238E27FC236}">
                  <a16:creationId xmlns="" xmlns:a16="http://schemas.microsoft.com/office/drawing/2014/main" id="{DF2689A1-7B75-45C7-9E06-9920BAD16BCB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="" xmlns:a16="http://schemas.microsoft.com/office/drawing/2014/main" id="{73E1B979-0953-4667-89EC-8399F0D9A4F0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6" name="Picture 2">
            <a:extLst>
              <a:ext uri="{FF2B5EF4-FFF2-40B4-BE49-F238E27FC236}">
                <a16:creationId xmlns="" xmlns:a16="http://schemas.microsoft.com/office/drawing/2014/main" id="{2E4F36B2-FE20-4BD5-910E-72F4D893F5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272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2647950"/>
            <a:ext cx="7772400" cy="640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3409950"/>
            <a:ext cx="7772400" cy="112514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6" name="Flowchart: Data 5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A4259A78-AA43-4A6A-900D-EE2D30F8E720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875215B7-B25D-4F0B-8702-FB348D9014AC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="" xmlns:a16="http://schemas.microsoft.com/office/drawing/2014/main" id="{B4CB8F2E-4E26-4972-A75F-6F2157B572C1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="" xmlns:a16="http://schemas.microsoft.com/office/drawing/2014/main" id="{08DCE91F-B240-49CA-BC1B-B7A6E0E607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707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976313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976313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pic>
        <p:nvPicPr>
          <p:cNvPr id="5125" name="Picture 5" descr="K:\Marketing\2 Marketing Stationery\Images\Images 2017\Aravind\OB824Z0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57201" y="3095625"/>
            <a:ext cx="82296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8" name="Flowchart: Data 7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Process 9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Data 10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3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4674439F-8003-4405-9D85-95DC9D40B767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0" name="Rectangle 19">
              <a:extLst>
                <a:ext uri="{FF2B5EF4-FFF2-40B4-BE49-F238E27FC236}">
                  <a16:creationId xmlns="" xmlns:a16="http://schemas.microsoft.com/office/drawing/2014/main" id="{30128605-53D7-419D-9A89-35FC78A63921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="" xmlns:a16="http://schemas.microsoft.com/office/drawing/2014/main" id="{50E258C9-6586-4D94-BDE2-E13842D4A3DD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="" xmlns:a16="http://schemas.microsoft.com/office/drawing/2014/main" id="{8EEB3A2E-A2AC-4F6F-AA88-4123E18D4A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7124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57200" y="1657350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657350"/>
            <a:ext cx="4038600" cy="197643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Add text, graphs, pictures and videos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9" name="Flowchart: Data 8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Process 12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Data 13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6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4EAEC4E0-C524-4EF1-9B57-89512582D5A8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9054FDEC-291D-43D1-92DC-D40D881903BB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="" xmlns:a16="http://schemas.microsoft.com/office/drawing/2014/main" id="{7B7E328D-94A3-47AE-9FB0-B077A6D299AD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4" name="Picture 2">
            <a:extLst>
              <a:ext uri="{FF2B5EF4-FFF2-40B4-BE49-F238E27FC236}">
                <a16:creationId xmlns="" xmlns:a16="http://schemas.microsoft.com/office/drawing/2014/main" id="{4FBF81C2-9BFC-4567-87BF-9DE8B77B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567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2114550"/>
            <a:ext cx="7772400" cy="640556"/>
          </a:xfrm>
          <a:prstGeom prst="rect">
            <a:avLst/>
          </a:prstGeo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dirty="0"/>
              <a:t>HEADING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5" name="Flowchart: Data 4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Process 6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283688F4-938B-49B1-A359-5954182187EF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0" name="Rectangle 19">
              <a:extLst>
                <a:ext uri="{FF2B5EF4-FFF2-40B4-BE49-F238E27FC236}">
                  <a16:creationId xmlns="" xmlns:a16="http://schemas.microsoft.com/office/drawing/2014/main" id="{F6AC392B-187F-4491-89D5-41B82C575E60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="" xmlns:a16="http://schemas.microsoft.com/office/drawing/2014/main" id="{D9181D33-AE72-4588-9DCD-527A2C839090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="" xmlns:a16="http://schemas.microsoft.com/office/drawing/2014/main" id="{5F1BD683-8148-4D66-A820-558D93D209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9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7380000" cy="613171"/>
          </a:xfrm>
          <a:prstGeom prst="rect">
            <a:avLst/>
          </a:prstGeom>
        </p:spPr>
        <p:txBody>
          <a:bodyPr/>
          <a:lstStyle>
            <a:lvl1pPr algn="l">
              <a:defRPr sz="2800" b="1">
                <a:latin typeface="+mn-lt"/>
              </a:defRPr>
            </a:lvl1pPr>
          </a:lstStyle>
          <a:p>
            <a:r>
              <a:rPr lang="en-US" dirty="0"/>
              <a:t>HEADING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5" name="Flowchart: Data 4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Data 7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0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5233FCE0-806F-437D-B6CD-F04C702BBEBB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0" name="Rectangle 19">
              <a:extLst>
                <a:ext uri="{FF2B5EF4-FFF2-40B4-BE49-F238E27FC236}">
                  <a16:creationId xmlns="" xmlns:a16="http://schemas.microsoft.com/office/drawing/2014/main" id="{C31DD396-1B9F-49EE-85F7-22EF32818A47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="" xmlns:a16="http://schemas.microsoft.com/office/drawing/2014/main" id="{C29C5D4B-6224-4179-9C1B-96FE5358AEDE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2" name="Picture 2">
            <a:extLst>
              <a:ext uri="{FF2B5EF4-FFF2-40B4-BE49-F238E27FC236}">
                <a16:creationId xmlns="" xmlns:a16="http://schemas.microsoft.com/office/drawing/2014/main" id="{4795435E-9C37-45A8-A6C1-277CD22309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495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3" y="195262"/>
            <a:ext cx="4648197" cy="471488"/>
          </a:xfrm>
          <a:prstGeom prst="rect">
            <a:avLst/>
          </a:prstGeom>
        </p:spPr>
        <p:txBody>
          <a:bodyPr anchor="t"/>
          <a:lstStyle>
            <a:lvl1pPr algn="l">
              <a:defRPr sz="2400" b="1"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3" y="819150"/>
            <a:ext cx="3008313" cy="36576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text, graphs, pictures and videos</a:t>
            </a:r>
          </a:p>
          <a:p>
            <a:pPr lvl="0"/>
            <a:endParaRPr lang="en-US" dirty="0"/>
          </a:p>
        </p:txBody>
      </p:sp>
      <p:pic>
        <p:nvPicPr>
          <p:cNvPr id="9" name="Picture 6" descr="K:\Marketing\2 Marketing Stationery\Images\Images 2017\Aravind\social-media-recruiting-1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81400" y="819150"/>
            <a:ext cx="54102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Data 9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2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5EE7C157-C4AF-4772-9C9E-52D13B551A02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42C499F9-DB36-4BE5-B268-BE35BF38C932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="" xmlns:a16="http://schemas.microsoft.com/office/drawing/2014/main" id="{C053DCED-D2C0-412E-BD21-1361859795FB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4" name="Picture 2">
            <a:extLst>
              <a:ext uri="{FF2B5EF4-FFF2-40B4-BE49-F238E27FC236}">
                <a16:creationId xmlns="" xmlns:a16="http://schemas.microsoft.com/office/drawing/2014/main" id="{7ABE6F78-13EC-464F-ADA5-59827E9C58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010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361950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04455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6146" name="Picture 2" descr="K:\Marketing\2 Marketing Stationery\Images\Images 2017\Aravind\ss-fashion-retail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86081" y="456643"/>
            <a:ext cx="5519593" cy="310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7" name="Flowchart: Data 6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Data 8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1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/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3" name="Rectangle 12"/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/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7" name="Picture 2">
            <a:extLst>
              <a:ext uri="{FF2B5EF4-FFF2-40B4-BE49-F238E27FC236}">
                <a16:creationId xmlns="" xmlns:a16="http://schemas.microsoft.com/office/drawing/2014/main" id="{93F57FA3-8406-478D-9E27-9B6806B420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207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6" descr="S:\Aravind\stock-photo-corporate-building-concept-glassy-modern-architecture-concept-realistic-d-render-illustration-278206394.jpg"/>
          <p:cNvPicPr preferRelativeResize="0">
            <a:picLocks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9153144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2209800" y="1581150"/>
            <a:ext cx="495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25"/>
              </a:spcBef>
              <a:spcAft>
                <a:spcPts val="900"/>
              </a:spcAft>
              <a:buClr>
                <a:srgbClr val="FFC000"/>
              </a:buClr>
            </a:pPr>
            <a:r>
              <a:rPr lang="en-US" sz="6000" b="1" dirty="0">
                <a:solidFill>
                  <a:srgbClr val="00B0F0"/>
                </a:solidFill>
                <a:latin typeface="+mj-lt"/>
                <a:cs typeface="Aharoni" pitchFamily="2" charset="-79"/>
              </a:rPr>
              <a:t>THANK YOU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-6350" y="3875810"/>
            <a:ext cx="2303105" cy="1286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2296754" y="3875810"/>
            <a:ext cx="2286001" cy="1267690"/>
          </a:xfrm>
          <a:prstGeom prst="rect">
            <a:avLst/>
          </a:prstGeom>
          <a:solidFill>
            <a:srgbClr val="00B0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>
          <a:xfrm>
            <a:off x="4582755" y="3875810"/>
            <a:ext cx="2286001" cy="1267690"/>
          </a:xfrm>
          <a:prstGeom prst="rect">
            <a:avLst/>
          </a:prstGeom>
          <a:solidFill>
            <a:srgbClr val="6BA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 userDrawn="1"/>
        </p:nvSpPr>
        <p:spPr>
          <a:xfrm>
            <a:off x="6868757" y="3875810"/>
            <a:ext cx="2275244" cy="126769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3" descr="D:\Work\Profile_Applexus\2017\phone-512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89366" y="4255063"/>
            <a:ext cx="296779" cy="29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/>
          <p:cNvSpPr/>
          <p:nvPr userDrawn="1"/>
        </p:nvSpPr>
        <p:spPr>
          <a:xfrm>
            <a:off x="7504207" y="4627104"/>
            <a:ext cx="1106392" cy="2501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95300" indent="-495300" algn="ctr">
              <a:lnSpc>
                <a:spcPct val="114000"/>
              </a:lnSpc>
              <a:buNone/>
            </a:pPr>
            <a:r>
              <a:rPr lang="it-IT" sz="900" dirty="0">
                <a:cs typeface="Arial" pitchFamily="34" charset="0"/>
              </a:rPr>
              <a:t>www.applexus.com</a:t>
            </a:r>
          </a:p>
        </p:txBody>
      </p:sp>
      <p:pic>
        <p:nvPicPr>
          <p:cNvPr id="27" name="Picture 4" descr="D:\Work\Profile_Applexus\2017\4e78249a927e4a968e9de81e1ad75e75 (1).png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62812" y="4255063"/>
            <a:ext cx="297887" cy="29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5" descr="D:\Work\Profile_Applexus\2017\jean-victor-balin-icon-letter-mail (1).png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68381" y="4255063"/>
            <a:ext cx="340278" cy="24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D:\Work\Ap.png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86800" y="133350"/>
            <a:ext cx="330896" cy="33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C:\Users\avijayan\Desktop\applexus_logo_300dpi.png"/>
          <p:cNvPicPr>
            <a:picLocks noChangeAspect="1" noChangeArrowheads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4270" y="4295137"/>
            <a:ext cx="1312439" cy="48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2935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:\Marketing\2 Marketing Stationery\Images\Images 2017\Aravind\Commercial-Buildings.jpg">
            <a:extLst>
              <a:ext uri="{FF2B5EF4-FFF2-40B4-BE49-F238E27FC236}">
                <a16:creationId xmlns="" xmlns:a16="http://schemas.microsoft.com/office/drawing/2014/main" id="{1C0D9CFB-12B8-48CD-9C86-012F372D2F0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-2" y="0"/>
            <a:ext cx="9143999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7802137" y="4889779"/>
            <a:ext cx="1265663" cy="200055"/>
            <a:chOff x="7802137" y="4889779"/>
            <a:chExt cx="1265663" cy="200055"/>
          </a:xfrm>
        </p:grpSpPr>
        <p:sp>
          <p:nvSpPr>
            <p:cNvPr id="5" name="Flowchart: Data 4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Data 6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9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Picture 2">
            <a:extLst>
              <a:ext uri="{FF2B5EF4-FFF2-40B4-BE49-F238E27FC236}">
                <a16:creationId xmlns="" xmlns:a16="http://schemas.microsoft.com/office/drawing/2014/main" id="{D93E9A19-31EE-4929-9118-4057630B7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09559" y="212924"/>
            <a:ext cx="945547" cy="35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D2A9DDFB-87D5-4578-B01B-D18CB8909752}"/>
              </a:ext>
            </a:extLst>
          </p:cNvPr>
          <p:cNvGrpSpPr/>
          <p:nvPr userDrawn="1"/>
        </p:nvGrpSpPr>
        <p:grpSpPr>
          <a:xfrm>
            <a:off x="0" y="4912334"/>
            <a:ext cx="7805261" cy="157248"/>
            <a:chOff x="-762000" y="4907856"/>
            <a:chExt cx="8525571" cy="161635"/>
          </a:xfrm>
        </p:grpSpPr>
        <p:sp>
          <p:nvSpPr>
            <p:cNvPr id="19" name="Rectangle 18">
              <a:extLst>
                <a:ext uri="{FF2B5EF4-FFF2-40B4-BE49-F238E27FC236}">
                  <a16:creationId xmlns="" xmlns:a16="http://schemas.microsoft.com/office/drawing/2014/main" id="{D94D52BB-1CA3-4782-8EF7-07357D211E18}"/>
                </a:ext>
              </a:extLst>
            </p:cNvPr>
            <p:cNvSpPr/>
            <p:nvPr/>
          </p:nvSpPr>
          <p:spPr>
            <a:xfrm>
              <a:off x="-762000" y="4907856"/>
              <a:ext cx="8455070" cy="16163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="" xmlns:a16="http://schemas.microsoft.com/office/drawing/2014/main" id="{5C778206-CE48-40E7-855B-8A7C4DE31A87}"/>
                </a:ext>
              </a:extLst>
            </p:cNvPr>
            <p:cNvSpPr/>
            <p:nvPr/>
          </p:nvSpPr>
          <p:spPr>
            <a:xfrm rot="10800000">
              <a:off x="7625538" y="4908823"/>
              <a:ext cx="138033" cy="159047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4306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01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0" r:id="rId9"/>
    <p:sldLayoutId id="2147483659" r:id="rId10"/>
    <p:sldLayoutId id="2147483661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68" r:id="rId20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forecast.aplx.us/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733550"/>
            <a:ext cx="7620001" cy="1066800"/>
          </a:xfrm>
          <a:prstGeom prst="rect">
            <a:avLst/>
          </a:prstGeom>
          <a:solidFill>
            <a:srgbClr val="00B0F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01" y="3562350"/>
            <a:ext cx="1534632" cy="1066800"/>
          </a:xfrm>
          <a:prstGeom prst="rect">
            <a:avLst/>
          </a:prstGeom>
          <a:solidFill>
            <a:srgbClr val="0070C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4648200"/>
            <a:ext cx="9154632" cy="51435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2646" y="1676221"/>
            <a:ext cx="6973064" cy="175432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Demand Forecasting : </a:t>
            </a:r>
          </a:p>
          <a:p>
            <a:pPr algn="ctr"/>
            <a:r>
              <a:rPr lang="en-US" sz="36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Xpert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endParaRPr lang="en-US" sz="36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939169" y="4884874"/>
            <a:ext cx="1265663" cy="200055"/>
            <a:chOff x="7802137" y="4889779"/>
            <a:chExt cx="1265663" cy="200055"/>
          </a:xfrm>
        </p:grpSpPr>
        <p:sp>
          <p:nvSpPr>
            <p:cNvPr id="10" name="Flowchart: Data 9"/>
            <p:cNvSpPr/>
            <p:nvPr/>
          </p:nvSpPr>
          <p:spPr>
            <a:xfrm>
              <a:off x="8751384" y="4910121"/>
              <a:ext cx="316416" cy="159370"/>
            </a:xfrm>
            <a:prstGeom prst="flowChartInputOutpu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Process 10"/>
            <p:cNvSpPr/>
            <p:nvPr/>
          </p:nvSpPr>
          <p:spPr>
            <a:xfrm>
              <a:off x="7960345" y="4910121"/>
              <a:ext cx="949247" cy="159370"/>
            </a:xfrm>
            <a:prstGeom prst="flowChartProcess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Data 11"/>
            <p:cNvSpPr/>
            <p:nvPr/>
          </p:nvSpPr>
          <p:spPr>
            <a:xfrm>
              <a:off x="7802137" y="4910121"/>
              <a:ext cx="316416" cy="159370"/>
            </a:xfrm>
            <a:prstGeom prst="flowChartInputOutpu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118526" y="4889779"/>
              <a:ext cx="9028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>
                  <a:solidFill>
                    <a:schemeClr val="bg1">
                      <a:lumMod val="75000"/>
                    </a:schemeClr>
                  </a:solidFill>
                </a:rPr>
                <a:t>www.applexus.com</a:t>
              </a:r>
            </a:p>
          </p:txBody>
        </p:sp>
        <p:pic>
          <p:nvPicPr>
            <p:cNvPr id="14" name="Picture 7" descr="S:\Aravind\Copyright-icon2.png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70" y="4951131"/>
              <a:ext cx="77350" cy="7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122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33527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Forecast product demand for a defined time horizon, given a time series of historical order / sales data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is important in supply chain planning to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inventory costs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price optimization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09550"/>
            <a:ext cx="79248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Methods for Demand Forecasting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950"/>
            <a:ext cx="8229600" cy="297179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12 statistical models are supported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Averaging (Simple, Weighted)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(Simple, Weighted)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Smoothing (Single, Double, Triple)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Response Rate Exponential Smoothing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ARIMA Modelling (AR, MA, ARMA, ARIMAX)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10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Module-1 :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Xpert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950"/>
            <a:ext cx="8229600" cy="2971799"/>
          </a:xfrm>
        </p:spPr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is traditionally carried out using statistical time series modelling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statistical models require in depth knowledge and understanding of statistical methods and processes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a time series of historical order / sales data,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Xpert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forecasts the order demand for a defined time horizon</a:t>
            </a:r>
          </a:p>
          <a:p>
            <a:pPr>
              <a:lnSpc>
                <a:spcPct val="150000"/>
              </a:lnSpc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00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4950"/>
            <a:ext cx="8229600" cy="297179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odeller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uses ARIMA modeling for automated forecasting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is very popular method and widely accepted in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ARIMA can handle any time series with/without seasonality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30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4038600"/>
          </a:xfrm>
        </p:spPr>
        <p:txBody>
          <a:bodyPr/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 AR process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Series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values depend on its own previous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	AR(p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Current values depend on its own p-previous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	p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order of AR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deviation from mean depends on previous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	 MA(q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The current deviation from mean depends on q-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deviations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	q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order of MA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 process: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trends by subtracting with lagged series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the order of I process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p,d,q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39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Xpert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Block Diagram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7" name="Picture 5" descr="C:\Users\ababraha\Downloads\arimaforecasting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35461"/>
            <a:ext cx="7277100" cy="392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3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Xpert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Interface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10" name="Picture 2" descr="C:\Users\ababraha\Desktop\Capture21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215649"/>
            <a:ext cx="7238999" cy="3642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87389" y="863084"/>
            <a:ext cx="2536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http://forecast.aplx.us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75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2567835"/>
            <a:ext cx="7620001" cy="1419911"/>
          </a:xfrm>
          <a:prstGeom prst="rect">
            <a:avLst/>
          </a:prstGeom>
          <a:solidFill>
            <a:srgbClr val="00B0F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4600"/>
              </a:lnSpc>
              <a:spcBef>
                <a:spcPct val="0"/>
              </a:spcBef>
              <a:defRPr/>
            </a:pPr>
            <a:r>
              <a:rPr lang="en-US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1" y="2567835"/>
            <a:ext cx="1534632" cy="1419911"/>
          </a:xfrm>
          <a:prstGeom prst="rect">
            <a:avLst/>
          </a:prstGeom>
          <a:solidFill>
            <a:srgbClr val="0070C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8265211" y="3068240"/>
            <a:ext cx="310117" cy="419100"/>
          </a:xfrm>
          <a:prstGeom prst="rightArrow">
            <a:avLst>
              <a:gd name="adj1" fmla="val 53931"/>
              <a:gd name="adj2" fmla="val 7656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9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85750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 – Canadian Foundries Monthly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 descr="C:\Users\ababraha\Desktop\Cap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92" y="1006756"/>
            <a:ext cx="7623207" cy="386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16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C:\Users\ababraha\Desktop\Capture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71550"/>
            <a:ext cx="7463016" cy="3847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6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 on Train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C:\Users\ababraha\Desktop\Captur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047751"/>
            <a:ext cx="7600019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694371" y="394335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0" y="3940373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36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Diagnostics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ababraha\Desktop\Capture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95350"/>
            <a:ext cx="7239000" cy="395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43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Step Ahead Forecasting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553200" y="371475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53000" y="357625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C:\Users\ababraha\Desktop\Capture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71550"/>
            <a:ext cx="7581900" cy="391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694371" y="394335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0" y="3940373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1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:\Users\ababraha\Desktop\Capture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33" y="971550"/>
            <a:ext cx="7607968" cy="388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Step Ahead Forecasting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1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Errors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ababraha\Desktop\Capture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71550"/>
            <a:ext cx="6979298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349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Perfomance Measures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2" name="Picture 2" descr="C:\Users\ababraha\Desktop\Capture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1428750"/>
            <a:ext cx="4181475" cy="299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36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 – Ads Watched Hourly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:\Users\ababraha\Desktop\Capture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971551"/>
            <a:ext cx="7610477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43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C:\Users\ababraha\Desktop\Capture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22570"/>
            <a:ext cx="7467600" cy="393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5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 on Train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6705600" y="401955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C:\Users\ababraha\Desktop\Capture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19" y="970172"/>
            <a:ext cx="7654581" cy="389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29200" y="4047351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94371" y="404735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data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47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Diagnostics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 descr="C:\Users\ababraha\Desktop\Capture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96" y="907842"/>
            <a:ext cx="7341704" cy="397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76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Step Ahead Forecasting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 descr="C:\Users\ababraha\Desktop\Capture1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895351"/>
            <a:ext cx="7750481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08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Step Ahead Forecasting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C:\Users\ababraha\Desktop\Capture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97338"/>
            <a:ext cx="7696200" cy="394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02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Errors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 descr="C:\Users\ababraha\Desktop\Capture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93172"/>
            <a:ext cx="7543800" cy="396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38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Perfomance Measures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86" name="Picture 2" descr="C:\Users\ababraha\Desktop\Capture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516" y="1504950"/>
            <a:ext cx="4046084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06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80000" cy="613171"/>
          </a:xfrm>
        </p:spPr>
        <p:txBody>
          <a:bodyPr/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71550"/>
            <a:ext cx="8229600" cy="4038600"/>
          </a:xfrm>
        </p:spPr>
        <p:txBody>
          <a:bodyPr/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Module-1 :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Xpert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builds statistical model and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demand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Module-2 : Advanced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 to build different statistical forecasting models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data transformation methods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defined model identification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performance measures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Module-3 : Machine Learning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Modeller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Employs different machine learning methods to build prediction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Prediction using multiple features data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Module-4 : Forecast Intermittent Demand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533400" y="819150"/>
            <a:ext cx="7391400" cy="0"/>
          </a:xfrm>
          <a:prstGeom prst="line">
            <a:avLst/>
          </a:prstGeom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19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73735" y="4636081"/>
            <a:ext cx="1332038" cy="241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5300" indent="-495300" algn="ctr">
              <a:lnSpc>
                <a:spcPct val="114000"/>
              </a:lnSpc>
              <a:buNone/>
            </a:pPr>
            <a:r>
              <a:rPr lang="it-IT" sz="900" dirty="0">
                <a:cs typeface="Arial" pitchFamily="34" charset="0"/>
              </a:rPr>
              <a:t>Your Phone #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6357" y="4627104"/>
            <a:ext cx="1284326" cy="2501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95300" indent="-495300" algn="ctr">
              <a:lnSpc>
                <a:spcPct val="114000"/>
              </a:lnSpc>
              <a:buNone/>
            </a:pPr>
            <a:r>
              <a:rPr lang="it-IT" sz="900" dirty="0">
                <a:cs typeface="Arial" pitchFamily="34" charset="0"/>
              </a:rPr>
              <a:t>contact@applexus.com</a:t>
            </a:r>
          </a:p>
        </p:txBody>
      </p:sp>
    </p:spTree>
    <p:extLst>
      <p:ext uri="{BB962C8B-B14F-4D97-AF65-F5344CB8AC3E}">
        <p14:creationId xmlns:p14="http://schemas.microsoft.com/office/powerpoint/2010/main" val="228263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5751</TotalTime>
  <Words>283</Words>
  <Application>Microsoft Office PowerPoint</Application>
  <PresentationFormat>On-screen Show (16:9)</PresentationFormat>
  <Paragraphs>80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Demand Forecasting</vt:lpstr>
      <vt:lpstr>Statistical Methods for Demand Forecasting</vt:lpstr>
      <vt:lpstr>Module-1 : Xpert Modeller</vt:lpstr>
      <vt:lpstr>Xpert Modeller</vt:lpstr>
      <vt:lpstr>ARIMA (p,d,q) modeling</vt:lpstr>
      <vt:lpstr>Xpert Modeller - Block Diagram</vt:lpstr>
      <vt:lpstr>Xpert Modeller – User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Aravind Vijayan</dc:creator>
  <cp:lastModifiedBy>Abin Abraham</cp:lastModifiedBy>
  <cp:revision>247</cp:revision>
  <dcterms:created xsi:type="dcterms:W3CDTF">2017-07-04T09:26:12Z</dcterms:created>
  <dcterms:modified xsi:type="dcterms:W3CDTF">2018-06-28T13:10:58Z</dcterms:modified>
</cp:coreProperties>
</file>